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92608"/>
            <a:ext cx="8686800" cy="47548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2004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प्राण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2768" y="384048"/>
            <a:ext cx="13716" cy="256032"/>
          </a:xfrm>
          <a:prstGeom prst="rect">
            <a:avLst/>
          </a:prstGeom>
          <a:solidFill>
            <a:srgbClr val="4B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3474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4B5FD"/>
                </a:solidFill>
              </a:rPr>
              <a:t>Prāṇa — Sanskrit for life force, the vital energy that sustains all existence. Just as प्राण is essential to life — PRANA is essential to our career.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4B5FD"/>
                </a:solidFill>
              </a:rPr>
              <a:t>Every worker deserves proof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their career.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8"/>
            <a:ext cx="59436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39696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1031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5B4FC"/>
                </a:solidFill>
              </a:rPr>
              <a:t>Employer-Pushed  →  AI-Processed  →  Employee-Owned  career document vault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78608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54203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Global Alumni Portal — your vault survives your resignation. Always on. Always yours.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98094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5B4FC"/>
                </a:solidFill>
              </a:rPr>
              <a:t>Built for   Trust  ·  Compliance  ·  Permanence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39"/>
            <a:ext cx="256032" cy="256032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529584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538727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ersonal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22776"/>
            <a:ext cx="256032" cy="256032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931920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941063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epository 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25112"/>
            <a:ext cx="256032" cy="256032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4334256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343400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uthenticated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27448"/>
            <a:ext cx="256032" cy="256032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4736592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745736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etworked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29784"/>
            <a:ext cx="256032" cy="256032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138928"/>
            <a:ext cx="18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5B4FC"/>
                </a:solidFill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14807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uthentications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338560" y="16459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75136" y="18288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58600" y="20116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00800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Prepared by: Nilesh Shah    ·    Classification: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What we'll cover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2 of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594360"/>
            <a:ext cx="11777472" cy="3840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858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B4FC"/>
                </a:solidFill>
              </a:rPr>
              <a:t>15 slides  ·  ~20 minutes  ·  Prepared for CXO audience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" y="112471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16128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1247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13624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₹42,000 Cr annual loss · 15 crore workers with no trail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178308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" y="181965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78308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Platform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08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Employer → AI Engine → Employee · 202 async · dual-region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441448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247802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44144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The Seven Trust Pillars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679191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Zero-knowledge · per-DEK · immutable audit · post-exit fence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" y="3099816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" y="3136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9981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Alumni Portal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3375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Career vault that survives resignation · 38-sec retrieval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" y="3758183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" y="3794759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758183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CHRO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995927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91.6% compliance · 0 manual digest steps · 1-click audit export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" y="441655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" y="445312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41655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CFO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65429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99.4% TDS alignment · ₹50Cr penalty structurally impossible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" y="507492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" y="511149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0749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CISO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3126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0 plaintext PAN in DB · 2ms destruction · RLS-enforced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733288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" y="576986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73328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For the Employee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971031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6 DPDP rights built-in · ₹0 bank verification · 0 employer post-exit access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12471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45936" y="116128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11247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AI Pipeline + Guardrails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13624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6 stages · local LLM · privacy filter · multilingual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178308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181965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178308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Labour Law Compliance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0208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4 Codes · 29 Acts · Gratuity Form F/I/L/M · Maternity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2441448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247802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2441448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DPDP Act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2679191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All 6 rights · per-purpose consent · ₹250 Cr penalty avoided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09360" y="3099816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3136392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3099816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Security + Scale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3375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7 trust layers · 1 crore employees · 125 PB · 99.99% uptime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3758183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5936" y="3794759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0" y="3758183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Immutable Audit + Trust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3995927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Append-only · 7-year retention · watermarked shares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441655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45936" y="445312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441655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Market Landscape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465429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DigiLocker gap · HRMS blind spot · where PRANA fits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507492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45936" y="5111496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50749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Why Now + Next Step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5120" y="53126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3 converging forces · 30-day pilot offer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India's workforce runs on documents no one can find.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3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3840480" cy="46177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384048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94360"/>
            <a:ext cx="27432" cy="4617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685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</a:rPr>
              <a:t>The Worker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978408"/>
            <a:ext cx="1280160" cy="2011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996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No Portability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1380744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1344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</a:rPr>
              <a:t>"My old employer won't release my salary slips. 3 years of career evidence — gone."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2276856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2402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15 crore gig &amp; contract workers change jobs with zero portable document trail.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" y="3172968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136391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Average time to recover 3 years of salary slips from 2 ex-employers: 6–8 weeks.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" y="4069080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40325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Banks reject loan applications. Visa officers reject applications. All for want of a PDF.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7096" y="594360"/>
            <a:ext cx="3840480" cy="46177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97096" y="594360"/>
            <a:ext cx="3840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7096" y="594360"/>
            <a:ext cx="27432" cy="4617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685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The CHRO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06824" y="978408"/>
            <a:ext cx="12801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996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No Visibility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6824" y="138074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5696" y="1344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</a:rPr>
              <a:t>"We run SAP, Darwinbox, and 2 local HRMS. Zero single view of document coverage."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6824" y="227685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25696" y="22402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Audit season means manual spreadsheets, helpdesk tickets, and executive escalations.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06824" y="317296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136391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87% vault completeness sounds good — until you find out the 13% is all Finance dept.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06824" y="406908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5696" y="40325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Compliance calendar is a shared Excel file someone updates once a quarter.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93024" y="594360"/>
            <a:ext cx="3840480" cy="46177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93024" y="594360"/>
            <a:ext cx="38404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93024" y="594360"/>
            <a:ext cx="27432" cy="4617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685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The CISO / InfoSec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02752" y="978408"/>
            <a:ext cx="1280160" cy="2011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02752" y="9966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No Trail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02752" y="1380744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4" y="1344168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F172A"/>
                </a:solidFill>
              </a:rPr>
              <a:t>"Who accessed which salary slip, from which IP, at 2 AM? We have zero answer."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02752" y="2276856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1624" y="224028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No watermark on documents leaves no exfiltration evidence.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02752" y="3172968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21624" y="3136391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No per-employee encryption means one breach = entire workforce data exposed.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02752" y="4069080"/>
            <a:ext cx="5486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21624" y="4032504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DPDP Act 2023 fines up to ₹250 Cr. Audit trail: a folder of email threads.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5349240"/>
            <a:ext cx="11777472" cy="80467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" y="5394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₹42,000 Cr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5440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5C5"/>
                </a:solidFill>
              </a:rPr>
              <a:t>estimated annual enterprise loss from document fraud,
re-issuance delays, and non-compliance penalties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03920" y="5394960"/>
            <a:ext cx="13716" cy="59436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53949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15 Crore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57332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C5C5"/>
                </a:solidFill>
              </a:rPr>
              <a:t>gig &amp; contract workers with
zero portable document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PLATFORM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Employer pushes. AI processes. Employee owns — permanently.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4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3017520" cy="4114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3017520" cy="292608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649224"/>
            <a:ext cx="2834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EMPLOYER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" y="978408"/>
            <a:ext cx="2816351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Portal Upload
HRMS API Push (SAP, Darwinbox,
Keka, Zoho, Excel)
Batch ZIP + CSV manifest
Webhook confirmation
Idemptotent — no duplicate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594360"/>
            <a:ext cx="3794760" cy="41148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594360"/>
            <a:ext cx="379476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8" y="649224"/>
            <a:ext cx="3611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PRANA VAULT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978408"/>
            <a:ext cx="3593592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Kafka · Temporal · YugabyteDB (dual-region)
AWS KMS · Redis CRDT · Tesseract / Textract
HTTP contract:
Validate → S3 put → 1 DB write
→ 1 Kafka publish → 202 ack
All pipeline work is asynchronous.
HTTP handler returns in milliseconds.
Five Kafka consumers own fan-out:
Audit · Workflow · SSE · Notify ·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594360"/>
            <a:ext cx="3017520" cy="4114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594360"/>
            <a:ext cx="301752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3728" y="649224"/>
            <a:ext cx="2834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EMPLOYEE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978408"/>
            <a:ext cx="2816351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Mobile App (iOS + Android)
AI-powered career insights
Watermarked secure share
Alumni access — post-exit
DPDP rights self-service
C-Share: named, expiring, revocable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846320"/>
            <a:ext cx="11777472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846320"/>
            <a:ext cx="1177747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96519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⚡ 202 in &lt;50ms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221224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HTTP handler exits immediately. No synchronous pipeline blocking. HRMS never waits.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96519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🔑 Envelope Encryption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5221224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Employee DEK → Tenant KEK → AWS KMS ap-south-1. Zero plaintext in DB or cache.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96519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🌐 Dual-Region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221224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YugabyteDB: Mumbai + Hyderabad. Active-active. Sub-10ms sync. 99.99% SLA.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965192"/>
            <a:ext cx="2834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🔄 53 Temporal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221224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Durable, retryable, auditable. Zero cron jobs. Zero Celery. Zero polling.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TRUST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Seven structural guarantees — not policy promises, but architecture.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5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28346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283464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9436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" y="68580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68580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" y="72237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7315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STRUCTURAL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9784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Vault Ownership Transfers on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1371600"/>
            <a:ext cx="26700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Once routed, employer CANNOT open, download, share, or delete. Not a permission flag — the database row changes owner.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594360"/>
            <a:ext cx="28346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594360"/>
            <a:ext cx="283464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59436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68580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68580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2736" y="72237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7315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CRYPTOGRAPHIC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9784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One Person. One Key. One Vault.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1371600"/>
            <a:ext cx="26700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Each employee has their own DEK. One key compromise = one person's blast radius. Full DB + no KMS = zero readable data.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1" y="594360"/>
            <a:ext cx="28346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1" y="594360"/>
            <a:ext cx="283464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1" y="59436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1071" y="68580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1" y="68580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01968" y="72237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7315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ZERO-KNOWLEDGE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1" y="9784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The System Doesn't Know Who You 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91071" y="1371600"/>
            <a:ext cx="26700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PAN → HMAC-SHA256 in 2ms. Plaintext destroyed immediately. No PAN in any DB row, cache entry, or log line. Ever.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98864" y="594360"/>
            <a:ext cx="28346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98864" y="594360"/>
            <a:ext cx="283464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98864" y="59436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90304" y="68580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90304" y="68580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0" y="72237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7315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CONSENT-GATED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0304" y="97840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Sharing Requires Your Action. Always.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90304" y="1371600"/>
            <a:ext cx="267004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Only the employee creates share tokens. Named recipient. Time-limited. Revocable. Watermarked. View-count visible to owner.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" y="324612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1168" y="3246120"/>
            <a:ext cx="3749039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" y="324612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2608" y="333756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8" y="333756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" y="337413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" y="338327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RLS ENFORCED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" y="3630168"/>
            <a:ext cx="35844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Portal Admin Cannot Read Documents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2608" y="4023359"/>
            <a:ext cx="358444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Zero SELECT on document rows. PostgreSQL RLS refuses the query at database level — not application logic, database law.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97096" y="324612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97096" y="3246120"/>
            <a:ext cx="3749039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97096" y="324612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88536" y="333756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88536" y="333756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99432" y="337413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99432" y="338327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TRANSPARENT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88536" y="3630168"/>
            <a:ext cx="35844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Every Access Visible to Document Owner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8536" y="4023359"/>
            <a:ext cx="358444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Actor, timestamp, IP, channel, watermark status — all in employee activity log. No black boxes. No hidden access.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93024" y="324612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93024" y="3246120"/>
            <a:ext cx="3749039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93024" y="3246120"/>
            <a:ext cx="22860" cy="2377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84464" y="3337560"/>
            <a:ext cx="237744" cy="23774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4464" y="333756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5B4FC"/>
                </a:solidFill>
              </a:rPr>
              <a:t>07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3374136"/>
            <a:ext cx="1280160" cy="1828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0" y="3383279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366F1"/>
                </a:solidFill>
              </a:rPr>
              <a:t>PORTABLE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84464" y="3630168"/>
            <a:ext cx="358444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72A"/>
                </a:solidFill>
              </a:rPr>
              <a:t>Your Vault Follows You, Not Your Employer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84464" y="4023359"/>
            <a:ext cx="3584447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 resignation, employer access revoked immediately. Vault URL is permanent. Alumni access in 38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ALUMNI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Your career vault survives your resignation. Always on. Always yours.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6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2743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5836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Post-Exit Access in 38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94183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Ex-employee authenticates with phone OTP. Salary slips, Form 16, offer letters, relieving letter across every employer — in one place. No HR call. No email. No waiting.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160020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1600200"/>
            <a:ext cx="2743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166420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Portable Across Every Employer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19476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Career spanning Vertex → Indigo → Bluestar? One vault. All employers' documents co-exist, tenant-isolated, employee-unified. 3 employers, 1 login.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260604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2606040"/>
            <a:ext cx="2743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67004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Employer Access Revoked Immediately on Exit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295351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 resignation flag, employer loses all access instantly. Alumni vault documents are classified employee property. Employer query returns ACCESS_DENIED — at the database row level.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361188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" y="3611880"/>
            <a:ext cx="2743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67588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Self-Serve Document Sharing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395935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Bank loan needs salary slip proof? Employee creates a QR-watermarked share link. Bank scans QR — verified. No phone call to HR. No 3-day wait. ₹0 cost.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" y="4617720"/>
            <a:ext cx="6858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1168" y="4617720"/>
            <a:ext cx="27432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468172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Nomination — First Platform in India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96519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Employee nominates family member for vault access. Built-in under DPDP S.14. In the event of incapacitation, nominee accesses with verified credentials.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33488" y="594360"/>
            <a:ext cx="4645152" cy="5029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33488" y="594360"/>
            <a:ext cx="464515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6368" y="6858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</a:rPr>
              <a:t>By the numbers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6368" y="1069848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11155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38 sec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11612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Avg alumni document retrieval — any employer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16368" y="1709928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17556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18013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HR calls needed for alumni access — ever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6368" y="2350008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239572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90+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44144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System-generated notifications across 6 channels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16368" y="2990087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303580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₹0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308152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Cost to employee for bank document verification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16368" y="3630168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367588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2ms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372160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PAN lifetime in memory — then HMAC, then destroyed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16368" y="4270248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43159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98280" y="4361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Employer accesses post-exit — structurally impossible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16368" y="4910327"/>
            <a:ext cx="4206240" cy="566928"/>
          </a:xfrm>
          <a:prstGeom prst="rect">
            <a:avLst/>
          </a:prstGeom>
          <a:solidFill>
            <a:srgbClr val="2D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5240" y="495604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5B4FC"/>
                </a:solidFill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00176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Employers, 1 vault, 1 login — career is portable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3488" y="5394960"/>
            <a:ext cx="4645152" cy="4572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16368" y="54864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5B4FC"/>
                </a:solidFill>
              </a:rPr>
              <a:t>Email  ·  SMS  ·  WhatsApp  ·  Push  ·  Portal Bell  ·  Incident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FOR THE CHRO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Every HR obligation tracked. Every audit instant. Zero manual steps.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7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704088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704088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8580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CHRO Weekly Vault Snapshot  ·  Week 32  ·  Aug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96012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TechServe India  ·  2,000 employees  ·  PRANA live 7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214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Docs pushed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+ 18 vs last week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9112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0552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2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Vault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↑ 1.2% WoW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3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9623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91.6%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9623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9623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vs 89.1% target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7255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5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5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Exceptions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8695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2 past 4-hr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240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DOCUMENT COVERAGE BY 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Salary Slips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1992" y="2542032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21992" y="2542032"/>
            <a:ext cx="3809756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249631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59669"/>
                </a:solidFill>
              </a:rPr>
              <a:t>99.2%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2916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Form 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1992" y="2962656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21992" y="2962656"/>
            <a:ext cx="36868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291693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891B2"/>
                </a:solidFill>
              </a:rPr>
              <a:t>96%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337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Offer Letters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21992" y="3383279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21992" y="3383279"/>
            <a:ext cx="3494836" cy="1371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33375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312E81"/>
                </a:solidFill>
              </a:rPr>
              <a:t>91%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7581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PF Statements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1992" y="3803904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21992" y="3803904"/>
            <a:ext cx="3341217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37581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59E0B"/>
                </a:solidFill>
              </a:rPr>
              <a:t>87%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41788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Relieving Letters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21992" y="4224528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21992" y="4224528"/>
            <a:ext cx="299557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41788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11D48"/>
                </a:solidFill>
              </a:rPr>
              <a:t>78%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463600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VAULT HEALTH BY DEPARTMENT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4892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Finance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21992" y="4937760"/>
            <a:ext cx="365760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21992" y="4937760"/>
            <a:ext cx="3401568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52744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6366F1"/>
                </a:solidFill>
              </a:rPr>
              <a:t>93%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" y="51846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HR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21992" y="5230368"/>
            <a:ext cx="365760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21992" y="5230368"/>
            <a:ext cx="3328416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52744" y="518464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6366F1"/>
                </a:solidFill>
              </a:rPr>
              <a:t>91%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0040" y="54772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Engineering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21992" y="5522976"/>
            <a:ext cx="365760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21992" y="5522976"/>
            <a:ext cx="3145536" cy="137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52744" y="54772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6366F1"/>
                </a:solidFill>
              </a:rPr>
              <a:t>86%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Sales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21992" y="5815584"/>
            <a:ext cx="365760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21992" y="5815584"/>
            <a:ext cx="2706624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52744" y="576986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59E0B"/>
                </a:solidFill>
              </a:rPr>
              <a:t>74%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60624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Customer Success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21992" y="6108192"/>
            <a:ext cx="365760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21992" y="6108192"/>
            <a:ext cx="2523744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952744" y="606247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11D48"/>
                </a:solidFill>
              </a:rPr>
              <a:t>69%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" y="6117336"/>
            <a:ext cx="7040880" cy="192024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2608" y="6135624"/>
            <a:ext cx="6766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400E"/>
                </a:solidFill>
              </a:rPr>
              <a:t>  Warning: 4 exceptions unresolved — 2 past 4-hr SLA. Oldest: 31 hrs. Action needed.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594360"/>
            <a:ext cx="452628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52360" y="594360"/>
            <a:ext cx="27432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1231" y="6675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Compliance Calendar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71231" y="923544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Statutory obligations tracked automatically against deadlines. Form 16 due date, PF annual statement, gratuity nominations — RAG status: Green / Amber / Red.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52360" y="1719072"/>
            <a:ext cx="452628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52360" y="1719072"/>
            <a:ext cx="27432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71231" y="1792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1-Click Audit Export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71231" y="2048255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Signed, timestamped, tamper-evident PDF. Any auditor. Any period. Any document type. Backed by immutable audit_event log.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332720" y="1810512"/>
            <a:ext cx="1536192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32720" y="1819656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366F1"/>
                </a:solidFill>
              </a:rPr>
              <a:t>0 manual steps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52360" y="2843784"/>
            <a:ext cx="452628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452360" y="2843784"/>
            <a:ext cx="27432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71231" y="29169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Weekly Digest — Push, Not Pull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71231" y="317296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Automated CHRO digest with vault health, doc coverage, exception queue, and alumni activity. No analyst required. No dashboard login needed.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332720" y="2935224"/>
            <a:ext cx="1536192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332720" y="2944368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366F1"/>
                </a:solidFill>
              </a:rPr>
              <a:t>0 manual steps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52360" y="3968496"/>
            <a:ext cx="452628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452360" y="3968496"/>
            <a:ext cx="27432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71231" y="40416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Natural Language Analytics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71231" y="42976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Ask: 'What is our Form 16 compliance vs last quarter?' — PRANA answers from verified document data, not HR system self-reports.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332720" y="4059935"/>
            <a:ext cx="1536192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332720" y="4069080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366F1"/>
                </a:solidFill>
              </a:rPr>
              <a:t>Ground truth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52360" y="5093208"/>
            <a:ext cx="4526280" cy="10241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452360" y="5093208"/>
            <a:ext cx="27432" cy="10241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71231" y="516636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Statutory SLA Monitoring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71231" y="542239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PF return, ESI filing, TDS deposit — deadlines tracked per statutory calendar. Breach alerts before the due date, not after the penalty.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332720" y="5184648"/>
            <a:ext cx="1536192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332720" y="5193792"/>
            <a:ext cx="15361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6366F1"/>
                </a:solidFill>
              </a:rPr>
              <a:t>Auto-tracked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FOR THE CFO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Payroll intelligence from actual documents — not HR's input, not the payroll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8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704088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7040880" cy="228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8580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CFO Weekly Cost &amp; Compliance Pulse  ·  Week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96012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TechServe India  ·  2,000 employees  ·  Consent coverage: 97.4%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1,997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Headcount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Budget 2,050  −53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9112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0552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99.4%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2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TDS alignment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Salary slip vs Form 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3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9623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97.8%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9623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CTC variance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9623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within ±12% tolerance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7255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5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₹9L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5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Exit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8695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59E0B"/>
                </a:solidFill>
              </a:rPr>
              <a:t>6 exits · repl.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240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FINANCIAL DOC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Salary Slips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1992" y="2542032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21992" y="2542032"/>
            <a:ext cx="376367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249631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891B2"/>
                </a:solidFill>
              </a:rPr>
              <a:t>98%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29169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Form 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1992" y="2962656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21992" y="2962656"/>
            <a:ext cx="3686860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291693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891B2"/>
                </a:solidFill>
              </a:rPr>
              <a:t>96%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3375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PF Annual Statement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21992" y="3383279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21992" y="3383279"/>
            <a:ext cx="3110788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33375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59E0B"/>
                </a:solidFill>
              </a:rPr>
              <a:t>81%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75818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Appointment Letters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1992" y="3803904"/>
            <a:ext cx="384048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21992" y="3803904"/>
            <a:ext cx="3610051" cy="137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375818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891B2"/>
                </a:solidFill>
              </a:rPr>
              <a:t>94%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43616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PAYROLL INTELLIGENCE — VERIFIED FROM DOCUMENTS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599432"/>
            <a:ext cx="6720840" cy="182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6542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✓  TDS consistency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50592" y="465429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99.4% monthly salary TDS aligns with annual Form 16 TDS — verified cross-document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" y="50383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✓  CTC variance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50592" y="503834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97.8% employees within ±12% appointment letter vs actual gross salary tolerance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" y="5422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⚡  Budget utilization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50592" y="542239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₹4.4 Cr  (95.9% used, ₹18L under budget) — from verified payroll documents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" y="5806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11D48"/>
                </a:solidFill>
              </a:rPr>
              <a:t>⚠  Attrition cost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50592" y="580644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₹33L estimated monthly · ₹9L/exit · verified tenure from actual offer + relieving letters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" y="6117336"/>
            <a:ext cx="7040880" cy="192024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" y="6135624"/>
            <a:ext cx="6766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2400E"/>
                </a:solidFill>
              </a:rPr>
              <a:t>  2 payroll anomalies — 47 employees, ₹2.3L delta. Awaiting CFO ack. SLA: 48 hrs.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594360"/>
            <a:ext cx="4526280" cy="102412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452360" y="594360"/>
            <a:ext cx="27432" cy="10241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71231" y="6675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Consent-First Aggregation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71231" y="923544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Individual salary never visible. Minimum 30-person cohort required before any aggregate shown. DPDP-compliant by design.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378440" y="667512"/>
            <a:ext cx="1490472" cy="2011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78440" y="676656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91B2"/>
                </a:solidFill>
              </a:rPr>
              <a:t>Min 30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52360" y="1719072"/>
            <a:ext cx="4526280" cy="102412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52360" y="1719072"/>
            <a:ext cx="27432" cy="10241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71231" y="1792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₹50 Cr Penalty — Structurally Impossible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71231" y="2048255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DPDP max penalty for data misuse is ₹250 Cr per incident. Consent-first design + per-DEK encryption makes financial data misuse architecturally impossible.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378440" y="1792224"/>
            <a:ext cx="1490472" cy="2011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378440" y="1801368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91B2"/>
                </a:solidFill>
              </a:rPr>
              <a:t>₹250Cr cap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52360" y="2843784"/>
            <a:ext cx="4526280" cy="102412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52360" y="2843784"/>
            <a:ext cx="27432" cy="10241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71231" y="29169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Industry Benchmarks from Verified Slips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71231" y="317296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Compensation benchmarks sourced from actual verified salary slips — not consultant surveys. Role / grade / location cohorts. Always consent-covered.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78440" y="2916936"/>
            <a:ext cx="1490472" cy="2011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378440" y="2926079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91B2"/>
                </a:solidFill>
              </a:rPr>
              <a:t>Verified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52360" y="3968496"/>
            <a:ext cx="4526280" cy="102412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52360" y="3968496"/>
            <a:ext cx="27432" cy="10241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71231" y="40416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Attrition Cost to the Rupee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71231" y="42976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Verified tenure from appointment + relieving letters. Replacement cost by department and grade. No spreadsheet estimates.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378440" y="4041648"/>
            <a:ext cx="1490472" cy="2011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378440" y="4050791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91B2"/>
                </a:solidFill>
              </a:rPr>
              <a:t>Ground truth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52360" y="5093208"/>
            <a:ext cx="4526280" cy="102412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452360" y="5093208"/>
            <a:ext cx="27432" cy="10241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71231" y="516636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891B2"/>
                </a:solidFill>
              </a:rPr>
              <a:t>Anomaly Ack Workflow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71231" y="542239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PAN duplicates, bulk salary revisions, CTC inconsistencies — flagged automatically. CFO one-click acknowledgement. Temporal-backed audit trail.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378440" y="5166360"/>
            <a:ext cx="1490472" cy="201168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378440" y="5175504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891B2"/>
                </a:solidFill>
              </a:rPr>
              <a:t>1-click 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FOR THE CISO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Every access logged. Every document watermarked. Zero plaintext PAN — 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9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704088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704088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8580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InfoSec Weekly Security Pulse  ·  Week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960120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TechServe India  ·  2,000 employees  ·  PRANA live 7 months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1,847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Doc accesses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100% watermarked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9112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30552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2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2 open · 1 auto-resolved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3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9623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9623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Force-logout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9623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11D48"/>
                </a:solidFill>
              </a:rPr>
              <a:t>Bulk · Rajkot 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77255" y="1197864"/>
            <a:ext cx="1609344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5" y="12527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5" y="163677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Share tokens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8695" y="1819656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59669"/>
                </a:solidFill>
              </a:rPr>
              <a:t>31 expired · 3 active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22402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ANOMALY BREAKDOWN — THIS WEEK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24963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Bulk access (HIGH)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21992" y="2542032"/>
            <a:ext cx="34747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21992" y="2542032"/>
            <a:ext cx="1250899" cy="137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9864" y="249631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E11D48"/>
                </a:solidFill>
              </a:rPr>
              <a:t>36%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28803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Foreign IP (MED)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21992" y="2926079"/>
            <a:ext cx="34747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21992" y="2926079"/>
            <a:ext cx="938174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9864" y="28803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59E0B"/>
                </a:solidFill>
              </a:rPr>
              <a:t>27%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3264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Failed TOTP ×4 (LOW)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21992" y="3310127"/>
            <a:ext cx="34747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21992" y="3310127"/>
            <a:ext cx="938174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9864" y="32644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059669"/>
                </a:solidFill>
              </a:rPr>
              <a:t>27%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3648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Unusual hours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21992" y="3694176"/>
            <a:ext cx="3474720" cy="137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21992" y="3694176"/>
            <a:ext cx="347472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9864" y="36484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64748B"/>
                </a:solidFill>
              </a:rPr>
              <a:t>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" y="4160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INCIDENTS — THIS WEEK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416552"/>
            <a:ext cx="438912" cy="2011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434840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4416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Bulk access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463600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47 docs in 4 min, Rajkot IP 103.21.x.x. Force-logout in 4.2 min. Watermark trail preserved. No exfil confirmed.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23560" y="4416552"/>
            <a:ext cx="640080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23560" y="443484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Resolved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001768"/>
            <a:ext cx="43891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5020055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0017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Foreign IP login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22122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OA-Operator logged in from Singapore IP 103.8.x.x. Monitoring active. CISO sees full IP; employee sees city only.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5001768"/>
            <a:ext cx="640080" cy="20116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23560" y="5020055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</a:rPr>
              <a:t>Open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586984"/>
            <a:ext cx="43891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60527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55869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Failed TOTP ×4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8064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PA account — auto-locked 30 min. No breach confirmed. Audit logged.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23560" y="5586984"/>
            <a:ext cx="640080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560527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Resolved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1168" y="6117336"/>
            <a:ext cx="7040880" cy="192024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2608" y="6135624"/>
            <a:ext cx="6766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59669"/>
                </a:solidFill>
              </a:rPr>
              <a:t>  Q2 posture score: 94%  ·  Avg response time: 4.2 min  ·  Zero PAN in any log  ·  100% DPDP compliant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60" y="594360"/>
            <a:ext cx="4526280" cy="10241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52360" y="594360"/>
            <a:ext cx="27432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71231" y="6675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0 Plaintext PAN — Architecture, Not Policy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923544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PAN → HMAC-SHA256 in 2ms. Plaintext destroyed. No PAN in DB row, cache entry, API response, or log line. Zero exceptions.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378440" y="667512"/>
            <a:ext cx="1490472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78440" y="676656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2ms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452360" y="1719072"/>
            <a:ext cx="4526280" cy="10241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52360" y="1719072"/>
            <a:ext cx="27432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1231" y="1792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Per-Employee DEK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71231" y="2048255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Each employee has own encryption key. Full database compromise + no KMS access = zero readable document data.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78440" y="1792224"/>
            <a:ext cx="1490472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78440" y="1801368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Blast radius: 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52360" y="2843784"/>
            <a:ext cx="4526280" cy="10241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52360" y="2843784"/>
            <a:ext cx="27432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71231" y="29169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RLS at Database Level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71231" y="317296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Portal Admin has zero SELECT on document rows. PostgreSQL RLS refuses the query — not application-layer logic. Database law.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378440" y="2916936"/>
            <a:ext cx="1490472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78440" y="2926079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DB enforced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3968496"/>
            <a:ext cx="4526280" cy="10241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52360" y="3968496"/>
            <a:ext cx="27432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71231" y="40416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Immutable Audit Log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71231" y="42976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No UPDATE, no DELETE on audit_event — ever. Append-only. Tamper-evident. 7-year retention. Legal hold support.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378440" y="4041648"/>
            <a:ext cx="1490472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78440" y="4050791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Append-only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452360" y="5093208"/>
            <a:ext cx="4526280" cy="10241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452360" y="5093208"/>
            <a:ext cx="27432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71231" y="516636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59669"/>
                </a:solidFill>
              </a:rPr>
              <a:t>LLM Isolation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71231" y="542239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Extraction LLM and analytics LLM: separate instances, separate keys, separate audit logs. No cross-contamination path.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78440" y="5166360"/>
            <a:ext cx="1490472" cy="20116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78440" y="5175504"/>
            <a:ext cx="1490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59669"/>
                </a:solidFill>
              </a:rPr>
              <a:t>Isolated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FOR THE EMPLOYEE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Your vault. Your career. Your control. Forever.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10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704088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704088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85800"/>
            <a:ext cx="6675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Three promises that change everything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051560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06984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069848"/>
            <a:ext cx="6309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Cryptographically Yours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34416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Once a document reaches your vault, your employer cannot touch it. Not open it. Not delete it. Not share it. This is not a policy. It is how the mathematics works.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57400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07568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075688"/>
            <a:ext cx="6309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Verified, Not Just Stored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35000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Every document was pushed by your employer, extracted by AI, and timestamped immutably. When you share a salary slip, the recipient knows it is real — the system proves it. QR scan. Verified. Done.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63240"/>
            <a:ext cx="237744" cy="2377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81528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81528"/>
            <a:ext cx="6309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Follows You, Forever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35584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One vault. Every employer. Your entire career automatically assembled — never lost, always accessible — whether you are employed, between jobs, or 10 employers 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1605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WHAT THIS MEANS IN NUMBERS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16552"/>
            <a:ext cx="1609344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47141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2ms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480060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PAN destroyed forever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9112" y="4416552"/>
            <a:ext cx="1609344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30552" y="447141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₹0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2" y="480060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Cost to verify for a bank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58183" y="4416552"/>
            <a:ext cx="1609344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9623" y="447141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9623" y="480060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Employer accesses post-exit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77255" y="4416552"/>
            <a:ext cx="1609344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5" y="4471416"/>
            <a:ext cx="1444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38s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8695" y="4800600"/>
            <a:ext cx="1444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Alumni vault access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52760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</a:rPr>
              <a:t>YOUR RIGHTS UNDER DPDP ACT 2023 — ALL BUILT 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513832"/>
            <a:ext cx="6720840" cy="182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568696"/>
            <a:ext cx="365760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58698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366F1"/>
                </a:solidFill>
              </a:rPr>
              <a:t>S.11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568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Right to Access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4680" y="556869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See everything PRANA holds. Download it all — one click.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888736"/>
            <a:ext cx="365760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90702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366F1"/>
                </a:solidFill>
              </a:rPr>
              <a:t>S.12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8887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Right to Correction + Erasure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588873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Flag errors. Request deletion with DPDP certificate.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6208776"/>
            <a:ext cx="365760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22706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366F1"/>
                </a:solidFill>
              </a:rPr>
              <a:t>S.13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2087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Right to Grievance Redressal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620877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Track grievances. One-click DPB escalation.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6528816"/>
            <a:ext cx="365760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654710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366F1"/>
                </a:solidFill>
              </a:rPr>
              <a:t>S.14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65288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Right to Nomination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652881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Nominate family for vault access. First platform in India.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6848856"/>
            <a:ext cx="365760" cy="2011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686714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6366F1"/>
                </a:solidFill>
              </a:rPr>
              <a:t>S.7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" y="684885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Right to Withdraw Consent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80" y="684885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Analytics toggles. Immediate effect. No fine print.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60" y="594360"/>
            <a:ext cx="4526280" cy="10241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452360" y="594360"/>
            <a:ext cx="27432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66751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My Vault — All Docs, All Employers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71231" y="941832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Salary slips, Form 16, offer letters, appointment letters, relieving letters, PF statements — one place, all employers, your career lifetime.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52360" y="1719072"/>
            <a:ext cx="4526280" cy="10241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452360" y="1719072"/>
            <a:ext cx="27432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71231" y="179222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C-Share — Verified Document Sharing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71231" y="2066543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Named recipient. Time-limited token. OTP-gated. Watermarked. View-count visible. Revocable any time. Bank scans QR — verified without HR.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60" y="2843784"/>
            <a:ext cx="4526280" cy="10241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52360" y="2843784"/>
            <a:ext cx="27432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71231" y="291693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Activity Log — No Black Boxes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71231" y="3191256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Every actor who touched your document: name, timestamp, IP, channel. Immutable. You see it. Employer cannot hide it.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52360" y="3968496"/>
            <a:ext cx="4526280" cy="10241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452360" y="3968496"/>
            <a:ext cx="27432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71231" y="40416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Document Alerts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71231" y="4315968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Missing salary slip for a month? PRANA tells you. Relieving letter overdue? One-click tracked request to employer. Proactive, not reactive.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52360" y="5093208"/>
            <a:ext cx="4526280" cy="10241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52360" y="5093208"/>
            <a:ext cx="27432" cy="10241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71231" y="516636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</a:rPr>
              <a:t>Mobile App — Face ID + Biometric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71231" y="5440680"/>
            <a:ext cx="4206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Face ID / fingerprint re-auth for every document access. Server-side watermark before bytes reach device. Secure storage: SecureStore, not AsyncStorage.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AI PIPELINE +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Local LLM. Full document in. Insights only out. Data never leaves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11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1901952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190195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94360"/>
            <a:ext cx="22860" cy="2194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" y="68580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7040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1069848"/>
            <a:ext cx="17190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Validate · S3 put
1 DB write · Kafka
202 in &lt;50ms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2264" y="150876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39696" y="594360"/>
            <a:ext cx="1901952" cy="21945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39696" y="594360"/>
            <a:ext cx="1901952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39696" y="594360"/>
            <a:ext cx="22860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31136" y="685800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1136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7040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OCR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9424" y="1069848"/>
            <a:ext cx="17190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Tesseract (local)
→ Textract (fallback)
Multilingual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1" y="150876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78224" y="594360"/>
            <a:ext cx="1901952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78224" y="594360"/>
            <a:ext cx="190195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78224" y="594360"/>
            <a:ext cx="22860" cy="2194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9663" y="68580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9663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7040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LLM EXTRACT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87952" y="1069848"/>
            <a:ext cx="17190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Qwen 2.5-14B
Full doc in
Structured JSON 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150876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16752" y="594360"/>
            <a:ext cx="1901952" cy="21945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16752" y="594360"/>
            <a:ext cx="1901952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16752" y="594360"/>
            <a:ext cx="22860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08192" y="685800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7040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RESOLVE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1069848"/>
            <a:ext cx="17190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PAN dedup · EPFO
Identity match
Cross-tenant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7848" y="150876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594360"/>
            <a:ext cx="1901952" cy="21945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55280" y="594360"/>
            <a:ext cx="190195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80" y="594360"/>
            <a:ext cx="22860" cy="2194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685800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46720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7040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INSIGHTS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8" y="1069848"/>
            <a:ext cx="17190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Llama 3.1-8B
Insights only out
Privacy filter ENFORCED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66376" y="150876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&gt;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93808" y="594360"/>
            <a:ext cx="1901952" cy="21945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594360"/>
            <a:ext cx="1901952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93808" y="594360"/>
            <a:ext cx="22860" cy="2194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85248" y="685800"/>
            <a:ext cx="2743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5248" y="685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51008" y="7040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ROUTE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03536" y="1069848"/>
            <a:ext cx="17190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Vault routing
SSE push
Employee access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1168" y="2926079"/>
            <a:ext cx="7772400" cy="1508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1168" y="2926079"/>
            <a:ext cx="77724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" y="3017520"/>
            <a:ext cx="713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</a:rPr>
              <a:t>LLM STACK — ALL LOCALLY HOSTED, INSIDE YOUR INFRASTRUCTURE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" y="32918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</a:rPr>
              <a:t>Extraction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36192" y="329184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Qwen/Qwen2.5-14B-Instruct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329184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Best structured JSON for Indian HR documents. Salary slips, Form 16, offer letters. Hindi + English.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472" y="3566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</a:rPr>
              <a:t>Insights / RAG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36192" y="35661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meta-llama/Llama-3.1-8B-Instruct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356616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Career insights, chatbot answers. Privacy filter runs AFTER this model. Raw figures blocked.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7472" y="38404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</a:rPr>
              <a:t>Embeddings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36192" y="38404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BAAI/bge-m3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0" y="384048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Multilingual — Hindi, English, Marathi. 512-token chunks, 50-token overlap. Qdrant vector store.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472" y="41148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5B4FC"/>
                </a:solidFill>
              </a:rPr>
              <a:t>OCR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36192" y="41148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Tesseract (local) + AWS Textract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4114800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</a:rPr>
              <a:t>Tesseract primary. Textract fallback. No document bytes leave PRANA infrastructure to Textract without org consent.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79" y="2926079"/>
            <a:ext cx="3794760" cy="1508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3879" y="2926079"/>
            <a:ext cx="3794760" cy="228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02752" y="30175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</a:rPr>
              <a:t>PRIVACY FILTER — NON-NEGOTIABLE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02752" y="329184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11D48"/>
                </a:solidFill>
              </a:rPr>
              <a:t>Stage 05 output passes mandatory filter.
Any raw salary figure, PAN, or NIK → BLOCKED.
Response becomes:
"I can share insights about your career but cannot share specific financial figures."
Hardcoded. Not configurable. Not bypassable by any admin.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1168" y="4599432"/>
            <a:ext cx="11777472" cy="1810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01168" y="4599432"/>
            <a:ext cx="1177747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040" y="47274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No Document Leaves India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0040" y="5001768"/>
            <a:ext cx="2743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HuggingFace today → Ollama / vLLM on-premise tomorrow. Full data sovereignty. Zero calls to OpenAI, Anthropic, or any external LLM API.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91840" y="47274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Multilingual from Day 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91840" y="5001768"/>
            <a:ext cx="2743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BGE-M3 embeddings handle Hindi salary slips, English offer letters, Marathi PF statements — same pipeline, same vault.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47274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LLM Isolation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5001768"/>
            <a:ext cx="2743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Extraction LLM and analytics LLM: separate GPU instances, separate keys, separate audit logs. No cross-contamination path architecturally possible.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35440" y="47274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90+ System Notifications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35440" y="5001768"/>
            <a:ext cx="27432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AI events (stage completion, exception flagged, anomaly detected) trigger 90+ automated notifications across Email, SMS, WhatsApp, Push, Portal Bell, Incident Log.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LABOUR LAW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29 Acts. 4 Labour Codes. One vault that covers the full compliance stack.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12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2834640" cy="3749039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2834640" cy="2286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94360"/>
            <a:ext cx="22860" cy="3749039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685800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12E81"/>
                </a:solidFill>
              </a:rPr>
              <a:t>CODE ON WAGES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" y="1005840"/>
            <a:ext cx="2606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Wage slips (monthly)
Wage register export
Bonus records
3-year mandatory retention lock
Minimum wage variance tracking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94360"/>
            <a:ext cx="2834640" cy="3749039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594360"/>
            <a:ext cx="28346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594360"/>
            <a:ext cx="22860" cy="374903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685800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</a:rPr>
              <a:t>INDUSTRIAL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1005840"/>
            <a:ext cx="2606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Appointment letters
Retrenchment notices
Grievance records + SLA tracking
Standing orders compliance
Increase / promotion letter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594360"/>
            <a:ext cx="2834640" cy="374903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594360"/>
            <a:ext cx="28346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1" y="594360"/>
            <a:ext cx="22860" cy="374903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685800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59669"/>
                </a:solidFill>
              </a:rPr>
              <a:t>SOCIAL SECURITY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1005840"/>
            <a:ext cx="2606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PF annual statement (EPFO)
ESI card + contribution records
Gratuity Forms F / I / L / M
Maternity records (dual-consent)
Superannuation documents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8864" y="594360"/>
            <a:ext cx="2834640" cy="374903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98864" y="594360"/>
            <a:ext cx="2834640" cy="228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98864" y="594360"/>
            <a:ext cx="22860" cy="374903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685800"/>
            <a:ext cx="2606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891B2"/>
                </a:solidFill>
              </a:rPr>
              <a:t>OSH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1005840"/>
            <a:ext cx="2606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Contract labour records
Migrant worker passbook
Health certificate tracking
Safety training records
Factory / establishment register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" y="4507992"/>
            <a:ext cx="11777472" cy="1901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1168" y="4507992"/>
            <a:ext cx="1177747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5994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CRITICAL GAPS CLOSED BY PRANA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873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Gratuity Form F / I / L /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166360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All four now in PRANA taxonomy — nomination, application, payment, rejection. Timestamped. Disputes now have an immutable paper trail. Previously zero platforms tracked all four.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873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Form 16 — Repository, Not Issuer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166360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PRANA stores employer-pushed Parts A + B. TRACES is authoritative. PRANA is the employee's permanent, portable copy — accessible post-exit, shareable with bank or CA. Zero re-issuance needed.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873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Maternity Records — Sensitive Category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166360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Enhanced privacy flag per PRANA taxonomy. Dual-consent required for any share or analytics inclusion. Medical-adjacent data treated with strictest access controls.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8737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IT Act + Income Tax Act Coverage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166360"/>
            <a:ext cx="2743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Form 16 TDS compliance, salary TDS consistency (99.4% alignment verified), investment proofs — covered under same vault alongside Labour Code obligations.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DPDP ACT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Employee data rights — built in at the architecture level, not added as a feature.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13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23317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233172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94360"/>
            <a:ext cx="22860" cy="2423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" y="685800"/>
            <a:ext cx="347472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69494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8580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Right to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" y="1033271"/>
            <a:ext cx="21488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See all data PRANA holds. Download it all. One click.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" y="2752344"/>
            <a:ext cx="731520" cy="182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27614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30d / instant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9464" y="594360"/>
            <a:ext cx="23317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9464" y="594360"/>
            <a:ext cx="233172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9464" y="594360"/>
            <a:ext cx="22860" cy="2423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60904" y="685800"/>
            <a:ext cx="347472" cy="20116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0904" y="69494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S.12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4" y="68580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Right to Correction + Erasure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9192" y="1033271"/>
            <a:ext cx="21488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Flag errors. Request deletion with DPDP certificate. Audit logs survive — 7yr legal retention explained.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79192" y="2752344"/>
            <a:ext cx="73152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79192" y="27614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30d erasure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59" y="594360"/>
            <a:ext cx="23317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37759" y="594360"/>
            <a:ext cx="233172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37759" y="594360"/>
            <a:ext cx="22860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199" y="685800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199" y="69494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S.13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399" y="68580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Right to Grievance Redressal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7488" y="1033271"/>
            <a:ext cx="21488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Track grievances. Auto-ack within 48 hrs. One-click DPB escalation if unresolved in 30 days.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2752344"/>
            <a:ext cx="73152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27614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48h 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06055" y="594360"/>
            <a:ext cx="23317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06055" y="594360"/>
            <a:ext cx="2331720" cy="228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06055" y="594360"/>
            <a:ext cx="22860" cy="24231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97496" y="685800"/>
            <a:ext cx="347472" cy="2011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97496" y="69494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S.14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54696" y="68580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891B2"/>
                </a:solidFill>
              </a:rPr>
              <a:t>Right to Nomination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15783" y="1033271"/>
            <a:ext cx="21488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Nominate family member for vault access on incapacitation. First platform in India to implement this right.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15783" y="2752344"/>
            <a:ext cx="731520" cy="1828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15783" y="27614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Instant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74352" y="594360"/>
            <a:ext cx="23317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74352" y="594360"/>
            <a:ext cx="2331720" cy="228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74352" y="594360"/>
            <a:ext cx="22860" cy="24231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65792" y="685800"/>
            <a:ext cx="347472" cy="2011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65792" y="694944"/>
            <a:ext cx="3474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22992" y="68580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11D48"/>
                </a:solidFill>
              </a:rPr>
              <a:t>Right to Withdraw Consent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1033271"/>
            <a:ext cx="2148839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Per-purpose consent toggles. Withdrawal immediate — Kafka notifies all services within milliseconds. No fine print.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84080" y="2752344"/>
            <a:ext cx="731520" cy="182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0" y="276148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Instant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" y="3172968"/>
            <a:ext cx="5760720" cy="3255264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1168" y="3172968"/>
            <a:ext cx="576072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3264408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5B4FC"/>
                </a:solidFill>
              </a:rPr>
              <a:t>CONSENT MODEL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3621024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355701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Consent is per-tenant, per-purpose — not a global toggle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" y="3968496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390448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Every grant and withdrawal timestamped in consent_log table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7472" y="4315968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2519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Withdrawal is immediate — Kafka notifies all downstream services in &lt;1 sec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" y="4663440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45994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Aggregated analytics require minimum 30-person cohort consent coverage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7472" y="5010912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494690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Audit logs survive erasure: 7-year legal retention overrides DPDP S.12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" y="5358384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52943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PRANA explains this to employees proactively — not buried in policy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7472" y="5705856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64184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100% India data residency — verified, zero cross-border transfers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7472" y="6053328"/>
            <a:ext cx="64008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598932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Max DPDP penalty exposure: ₹250 Cr — misuse structurally impossible by architecture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3172968"/>
            <a:ext cx="5806440" cy="15087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72200" y="3172968"/>
            <a:ext cx="58064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9360" y="3264408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Q2 COMPLIANCE RECORD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60" y="359359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100%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All requests within SLA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9360" y="411480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Q2 total: 5 DPDP requests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26680" y="359359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26680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Erasure completed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26680" y="411480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Day 12 of 30 — well within SLA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0" y="359359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0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Export completed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411480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Day 3 of 3 — well within SLA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61320" y="359359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100%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561320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172A"/>
                </a:solidFill>
              </a:rPr>
              <a:t>Audit trail complete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411480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All workflows logged to audit_event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4846320"/>
            <a:ext cx="5806440" cy="15727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72200" y="4846320"/>
            <a:ext cx="580644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09360" y="493776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TEMPORAL WORKFLOWS — NOT MANUAL PROCESSES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9360" y="522122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ErasureWorkflow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22208" y="5221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Durable, retryable — survives pod restarts. SLA timer built-in. Escalates to PA on day 28.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9360" y="551383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DataExportWorkflow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522208" y="551383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Packages all data, generates DPDP certificate, emails to employee. Audit-logged.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9360" y="5806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ConsentWithdrawalWorkflow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22208" y="5806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Immediate Kafka fan-out. All services notified. Confirmed by consumer receipts.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60" y="60990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GrievanceWorkflow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22208" y="60990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48-hr auto-ack. Day-30 DPB escalation if unresolved. All timestamped.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SECURITY +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Enterprise-grade encryption. India-scale infrastructure. 99.99% uptime.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14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576072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576072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858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12E81"/>
                </a:solidFill>
              </a:rPr>
              <a:t>THREE-KEY ENVELOPE ENCRYPTION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1033271"/>
            <a:ext cx="123444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1088136"/>
            <a:ext cx="1133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1289304"/>
            <a:ext cx="1133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645919" y="1033271"/>
            <a:ext cx="1234440" cy="56692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00784" y="1088136"/>
            <a:ext cx="1133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→ Employee DEK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1289304"/>
            <a:ext cx="1133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FF3-1 FPE for PAN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1033271"/>
            <a:ext cx="1234440" cy="56692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1088136"/>
            <a:ext cx="1133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→ Tenant KEK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1289304"/>
            <a:ext cx="1133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Per-org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42816" y="1033271"/>
            <a:ext cx="1234440" cy="566928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1088136"/>
            <a:ext cx="1133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→ AWS KMS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1289304"/>
            <a:ext cx="1133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ap-south-1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1691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Passwords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169164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Argon2id  ·  time=2  ·  memory=65,536  ·  parallelism=2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194767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194767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FF3-1 Format-Preserving Encryption per employee DEK  ·  HMAC dedup 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220370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TOTP secret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" y="2203704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AES-256-GCM  ·  Never stored in plaintext, never in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245973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JWT revocation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2459736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Redis namespace revoked:{jti}  ·  TTL = session lifetime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27157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366F1"/>
                </a:solidFill>
              </a:rPr>
              <a:t>Cache keys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271576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pan_token (HMAC-SHA256) ONLY  ·  Zero plaintext PAN in any cache entry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594360"/>
            <a:ext cx="5806440" cy="24231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594360"/>
            <a:ext cx="5806440" cy="228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685800"/>
            <a:ext cx="5394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B4FC"/>
                </a:solidFill>
              </a:rPr>
              <a:t>BUILT FOR INDIA'S ENTIRE WORKFORCE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10515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5B4FC"/>
                </a:solidFill>
              </a:rPr>
              <a:t>1 Lakh+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1463039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Organisations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0515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5B4FC"/>
                </a:solidFill>
              </a:rPr>
              <a:t>1 Crore+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463039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Employees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10515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5B4FC"/>
                </a:solidFill>
              </a:rPr>
              <a:t>125 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1463039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Document storage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19659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5B4FC"/>
                </a:solidFill>
              </a:rPr>
              <a:t>53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37744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Temporal workflows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19659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5B4FC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237744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Kafka topics (12 partitions each)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19659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5B4FC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2377440"/>
            <a:ext cx="1783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</a:rPr>
              <a:t>Year audit retention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" y="3172968"/>
            <a:ext cx="11777472" cy="3255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01168" y="3172968"/>
            <a:ext cx="1177747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" y="32644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INFRASTRUCTURE STACK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538728"/>
            <a:ext cx="3767328" cy="12984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3538728"/>
            <a:ext cx="22860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79" y="3611880"/>
            <a:ext cx="45720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79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Database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8407" y="36118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YugabyteDB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768" y="3922776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Dual-region: Mumbai + Hyderabad  ·  256 tablets  ·  CRDT active-active
99.99% uptime SLA  ·  PostgreSQL-compatible  ·  RLS enforced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70248" y="3538728"/>
            <a:ext cx="3767328" cy="12984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70248" y="3538728"/>
            <a:ext cx="22860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61688" y="3611880"/>
            <a:ext cx="45720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61688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Event Stream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28616" y="36118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Apache Kafka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9976" y="3922776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AWS MSK  ·  KRaft mode  ·  5 topics, 12 partitions each
MirrorMaker 2 bidirectional cross-region sync  ·  5 typed consumers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0456" y="3538728"/>
            <a:ext cx="3767328" cy="12984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0456" y="3538728"/>
            <a:ext cx="22860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311896" y="3611880"/>
            <a:ext cx="45720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11896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Cache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78824" y="36118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Redis CRDT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0183" y="3922776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ElastiCache Global Datastore  ·  Active-active both regions
Sub-10ms cross-region sync  ·  4 namespaces: identity, share, vault, JWT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983480"/>
            <a:ext cx="3767328" cy="12984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040" y="4983480"/>
            <a:ext cx="22860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1479" y="5056632"/>
            <a:ext cx="45720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79" y="50657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Workflow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8407" y="50566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Temporal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9768" y="536752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Python SDK v1.x  ·  53 named workflows  ·  5 task queues
Zero cron, zero Celery  ·  Thin workflow shell + rich service class pattern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70248" y="4983480"/>
            <a:ext cx="3767328" cy="12984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70248" y="4983480"/>
            <a:ext cx="22860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61688" y="5056632"/>
            <a:ext cx="45720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61688" y="50657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Key Mgmt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28616" y="50566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AWS KMS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9976" y="536752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ap-south-1 (primary)  ·  Customer-managed keys
Tenant KEK wraps employee DEK  ·  Platform secret for HMAC pan_token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0456" y="4983480"/>
            <a:ext cx="3767328" cy="12984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220456" y="4983480"/>
            <a:ext cx="22860" cy="12984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11896" y="5056632"/>
            <a:ext cx="457200" cy="2011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11896" y="50657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64748B"/>
                </a:solidFill>
              </a:rPr>
              <a:t>Storage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78824" y="505663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AWS S3 / MinIO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30183" y="536752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Document storage  ·  Server-side encryption  ·  Lifecycle policies
Dual-region replication  ·  125 PB capacity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IMMUTABLE AUDIT +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We cannot see your salary. We cannot access your docs. By architecture, not policy.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15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5943600" cy="571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59436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85800"/>
            <a:ext cx="5577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EVERY EVENT — PERMANENTLY RECORDED — APPEND-ONLY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960120"/>
            <a:ext cx="5687568" cy="9144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960120"/>
            <a:ext cx="4572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29844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01498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Document pushed by employer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12893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tenant_id · document_id · actor · IP · timestamp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58191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366F1"/>
                </a:solidFill>
              </a:rPr>
              <a:t>sha256:a3f8c2e1...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014984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 24, 09:14:22 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874519"/>
            <a:ext cx="4572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1984248"/>
            <a:ext cx="5687568" cy="9144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1984248"/>
            <a:ext cx="4572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322576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0391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AI pipeline: Stage 03 LLM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3134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Qwen 2.5-14B · structured JSON · insights only · no raw figures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6060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366F1"/>
                </a:solidFill>
              </a:rPr>
              <a:t>sha256:b7d1e4f8...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039112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 24, 09:14:31 IST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898648"/>
            <a:ext cx="4572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008376"/>
            <a:ext cx="5687568" cy="9144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008376"/>
            <a:ext cx="4572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346704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0632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Employee viewed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33756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Mobile · Face ID re-auth · watermark applied · IP logged · channel: MOBILE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63016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366F1"/>
                </a:solidFill>
              </a:rPr>
              <a:t>sha256:c9f2a1d3...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0632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 24, 11:02:47 IST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922776"/>
            <a:ext cx="4572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032504"/>
            <a:ext cx="5687568" cy="914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4032504"/>
            <a:ext cx="45720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370832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SHARE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08736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Share token issued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43616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Recipient: HDFC Bank Officer · OTP-gated · 10-min session · watermark: recipient+timestamp+token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6542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366F1"/>
                </a:solidFill>
              </a:rPr>
              <a:t>sha256:d4e8b3c7...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08736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 24, 14:37:08 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946904"/>
            <a:ext cx="457200" cy="12801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5056632"/>
            <a:ext cx="5687568" cy="9144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5056632"/>
            <a:ext cx="457200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394960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REVOKE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11149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Share token expired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3858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Auto-expiry · access revoked · watermark trail preserved · no document bytes cached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567842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366F1"/>
                </a:solidFill>
              </a:rPr>
              <a:t>sha256:e2f9c5a8...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511149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 24, 14:47:08 IST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594360"/>
            <a:ext cx="5623560" cy="2084831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5080" y="594360"/>
            <a:ext cx="5623560" cy="228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685800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5B4FC"/>
                </a:solidFill>
              </a:rPr>
              <a:t>7-YEAR RETENTION — NON-NEGOTIABLE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978408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Hot storage (0–2 years): YugabyteDB — fully queryable
Cold storage (2–7 years): Apache Iceberg on S3 — tamper-evident
Archival: AuditArchivalWorkflow migrates automatically
Audit logs survive erasure requests.
DPDP S.12 erasure right does not override 7-year legal retention.
PRANA explains this proactively — employee receives written explanation, not silence.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2825496"/>
            <a:ext cx="5623560" cy="138988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55080" y="2825496"/>
            <a:ext cx="5623560" cy="228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29169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11D48"/>
                </a:solidFill>
              </a:rPr>
              <a:t>ZERO ACCESS — BY ARCHITECTURE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3246120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38544" y="322783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11D48"/>
                </a:solidFill>
              </a:rPr>
              <a:t>LLM output = insights only. Raw salary figures never written to any DB table.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3483863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38544" y="346557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11D48"/>
                </a:solidFill>
              </a:rPr>
              <a:t>PAN never in any DB row, cache entry, log line, or API response — ever.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3721608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38544" y="370332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11D48"/>
                </a:solidFill>
              </a:rPr>
              <a:t>Portal Admin has zero SELECT on document rows (PostgreSQL RLS — database law).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3959352"/>
            <a:ext cx="548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38544" y="3941063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11D48"/>
                </a:solidFill>
              </a:rPr>
              <a:t>Watermark on every share: recipient name + timestamp + token hash. Server-side. Cannot be removed.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4361688"/>
            <a:ext cx="5623560" cy="1956816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55080" y="4361688"/>
            <a:ext cx="562356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44531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12E81"/>
                </a:solidFill>
              </a:rPr>
              <a:t>WATERMARK ON EVERY ACCESS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92240" y="475488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Content: Recipient name + access timestamp + share token (last 12 chars)
Applied: Server-side, before bytes reach device. Client cannot bypass.
Logged: document_access_log.watermark_applied = TRUE — mandatory field.
Purpose: In the event of exfiltration, evidence trail always preserved.
Employee own access: watermarked with employee name + timestamp.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MARKET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PRANA occupies a category no existing product covers.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16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11777472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640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640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DigiLocker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640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HRMS Platforms
(SAP / Darwinbox / Keka)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640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Document Mgmt
(Leegality / DMS tools)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6400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5B4FC"/>
                </a:solidFill>
              </a:rPr>
              <a:t>PRANA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960120"/>
            <a:ext cx="117774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06984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Employer pushes documents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79" y="10698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79" y="1069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✓ (source)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0698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069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1399032"/>
            <a:ext cx="11777472" cy="420624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15087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Employee owns post-exit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79" y="15087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79" y="15087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15087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15087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1837943"/>
            <a:ext cx="117774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194767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AI extraction +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79" y="19476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79" y="19476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194767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194767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2276856"/>
            <a:ext cx="11777472" cy="420624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238658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Per-employee encryption (DEK)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79" y="23865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79" y="23865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23865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23865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" y="2715768"/>
            <a:ext cx="117774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282549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Immutable audit 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79" y="28254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79" y="28254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28254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282549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1168" y="3154680"/>
            <a:ext cx="11777472" cy="420624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DPDP Act 2023 — all 6 rights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79" y="3264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79" y="32644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264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40" y="32644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3593591"/>
            <a:ext cx="117774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370332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Alumni / post-exit access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26079" y="3703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79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37033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370332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" y="4032504"/>
            <a:ext cx="11777472" cy="420624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4142232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Labour law compliance tracking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26079" y="41422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83479" y="414223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06640" y="41422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64040" y="414223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" y="4471416"/>
            <a:ext cx="117774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4581144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0 plaintext PAN in DB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26079" y="45811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83479" y="458114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45811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464040" y="458114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1168" y="4910328"/>
            <a:ext cx="11777472" cy="420624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8600" y="5020056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Watermarked secure share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26079" y="50200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83479" y="50200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06640" y="50200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64040" y="502005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1168" y="5349240"/>
            <a:ext cx="11777472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600" y="545896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Multilingual Hindi + English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26079" y="5458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83479" y="54589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54589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64040" y="545896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1168" y="5788151"/>
            <a:ext cx="11777472" cy="420624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8600" y="5897879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172A"/>
                </a:solidFill>
              </a:rPr>
              <a:t>Portable across employers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26079" y="589787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59E0B"/>
                </a:solidFill>
              </a:rPr>
              <a:t>Partial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83479" y="589787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06640" y="5897879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11D48"/>
                </a:solidFill>
              </a:rPr>
              <a:t>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64040" y="5897879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442448" y="594360"/>
            <a:ext cx="1536192" cy="568756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442448" y="594360"/>
            <a:ext cx="153619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88952" cy="228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118872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" y="137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554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E81"/>
                </a:solidFill>
              </a:rPr>
              <a:t>RANA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37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6366F1"/>
                </a:solidFill>
              </a:rPr>
              <a:t>WHY NOW + NEXT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"/>
            <a:ext cx="10789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Three forces are converging. The window to move first is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79108"/>
            <a:ext cx="12188952" cy="7315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6601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Private &amp;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</a:rPr>
              <a:t>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660196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4748B"/>
                </a:solidFill>
              </a:rPr>
              <a:t>Slide 17 of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" y="594360"/>
            <a:ext cx="3840480" cy="42062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" y="594360"/>
            <a:ext cx="3840480" cy="228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" y="594360"/>
            <a:ext cx="22860" cy="4206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" y="685800"/>
            <a:ext cx="237744" cy="23774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9494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85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11D48"/>
                </a:solidFill>
              </a:rPr>
              <a:t>DPDP Act 2023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978408"/>
            <a:ext cx="1371600" cy="182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9875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Regulatory Deadline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" y="1289304"/>
            <a:ext cx="3611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Every employer handling employee data must comply. Fines up to ₹250 Cr per incident. ₹500 Cr for repeated violation. PRANA is the fastest path — not a 12-month IT project, a SaaS subscription with 30-day onboarding.
The clock is running. Enforcement guidance expected within 2025.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7096" y="594360"/>
            <a:ext cx="3840480" cy="420624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7096" y="594360"/>
            <a:ext cx="384048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594360"/>
            <a:ext cx="22860" cy="4206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6824" y="685800"/>
            <a:ext cx="237744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6824" y="69494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685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15 Crore Workers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36008" y="978408"/>
            <a:ext cx="137160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6008" y="9875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Portability Crisis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6824" y="1289304"/>
            <a:ext cx="3611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India's gig, contract, and formal sector workforce — the fastest-growing, most document-vulnerable segment. Average worker changes jobs every 2.8 years. Zero portable document trail. Banks, visa officers, and background agencies reject applications daily.
The problem compounds with every job change.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4" y="594360"/>
            <a:ext cx="3840480" cy="42062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4" y="594360"/>
            <a:ext cx="384048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93024" y="594360"/>
            <a:ext cx="22860" cy="4206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02752" y="685800"/>
            <a:ext cx="237744" cy="23774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694944"/>
            <a:ext cx="237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31936" y="685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</a:rPr>
              <a:t>HRMS Fragmentation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31936" y="978408"/>
            <a:ext cx="1371600" cy="182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31936" y="98755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Peak Pain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1289304"/>
            <a:ext cx="3611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The average Indian enterprise runs 3–4 HR systems — SAP for corporate, Darwinbox for operations, Keka for startup entities, legacy tools for plants. Zero interoperability. PRANA ingests from all of them — no rip-and-replace, no IT committee.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" y="4965192"/>
            <a:ext cx="11777472" cy="1444752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168" y="4965192"/>
            <a:ext cx="11777472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5074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THE OFFER: Start with one department. Own your workforce document story in 30 days.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5513832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4772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No HRMS replacement required — PRANA integrates as a push layer above existing systems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5715000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67842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No IT committee or 6-month procurement — SaaS subscription, standard MSA, 30-day onboarding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5916168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87959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No employee action required — documents appear in vault automatically when employer pushes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6117336"/>
            <a:ext cx="64008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0807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5B4FC"/>
                </a:solidFill>
              </a:rPr>
              <a:t>Full DPDP Act 2023 compliance on Day 1 — consent model, data rights, audit trail — all built 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513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</a:rPr>
              <a:t>Contact: Nilesh Shah  ·  n.shah12@gmail.com  ·  prana.in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
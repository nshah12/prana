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7315200" cy="502920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प्राण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8404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B5FD"/>
                </a:solidFill>
              </a:rPr>
              <a:t>Prāṇa — Sanskrit for life force.   PRANA is essential to our career.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Every worker deserves proof of their career.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5486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</a:rPr>
              <a:t>→  Employer-Pushed  →  AI-Processed  →  Employee-Owned  career document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Global Alumni Portal — your vault survives your resignation. Always on. Always yours.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</a:rPr>
              <a:t>Built for   Trust  ·  Compliance  ·  Permanence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918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ersonal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epository 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69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uthenticated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80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etworked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92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B4FC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37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uthentications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94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Prepared by: Nilesh Shah     ·     Classification: Private &amp;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82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12E81"/>
                </a:solidFill>
              </a:rPr>
              <a:t>What we'll cover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804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366F1"/>
                </a:solidFill>
              </a:rPr>
              <a:t>15 slides · ~20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5" y="14081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5910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₹42,000 Cr lost to document gaps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5" y="21122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756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Platform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2951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Employer → AI → Employee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79776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5" y="281635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7797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Alumni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9992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Always-on career identity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83864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5" y="35204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4838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For the CHRO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7033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Vault health · digest · 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87952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5" y="42245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1879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For the CFO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407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Cost pulse · anomaly ack · coverage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892040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5" y="49286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8920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For the CISO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111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Access log · anomaly feed · zero-trust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596128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5" y="56327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5961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For the Employee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" y="5815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Mobile vault · share · permanence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59" y="1371600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14081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7" y="1371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AI Pipeline + Guardrails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7" y="15910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Local LLM · privacy filter · 6 stages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59" y="2075688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5936" y="21122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7" y="20756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Labour Law Compliance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7" y="22951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4 Codes · 29 Acts · wages to gratuity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59" y="2779776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281635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7" y="27797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DPDP Act 2023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3407" y="29992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5 rights · SLAs · consent model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59" y="3483864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35204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3407" y="34838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Security + Scale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7" y="37033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Encryption · KMS · 1 crore employees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59" y="4187952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45936" y="42245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3407" y="41879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Immutable Audit + Trust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7" y="4407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7-year chain · watermark · zero access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59" y="4892040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5936" y="49286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7" y="48920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Market + Why Now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93407" y="5111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Where PRANA fits · 3 forces · pilot offer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India's workforce runs on documents no one can find.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241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Three roles. Three pain points. One broken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3749039" cy="25146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1D48"/>
                </a:solidFill>
              </a:rPr>
              <a:t>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"My old employer won't release my documents.
3 years of career — gone."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3749039"/>
            <a:ext cx="1188720" cy="25603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76732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No portability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600200"/>
            <a:ext cx="3749039" cy="25146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CHRO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"We run SAP, Darwinbox, 2 local HRMS.
Zero single view. Audit season is a nightmare."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749039"/>
            <a:ext cx="11887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76732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No visibility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600200"/>
            <a:ext cx="3749039" cy="25146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</a:rPr>
              <a:t>CISO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"Who accessed which salary slip, from which IP,
at 2 AM? Zero audit trail."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3749039"/>
            <a:ext cx="1188720" cy="2560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76732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No trail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51960"/>
            <a:ext cx="5394960" cy="132588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159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11D48"/>
                </a:solidFill>
              </a:rPr>
              <a:t>Rs.42,000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estimated annual loss — document fraud, re-issuance
delays, and compliance penalties across Indian enterprises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251960"/>
            <a:ext cx="5852160" cy="13258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315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The Alumni Blind Spot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645152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15 crore gig &amp; contract workers have no portable document trail when they move between jobs. PRANA solves this permanently — documents survive resignation.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PLATFORM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Employer pushes. AI processes. Employee owns.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2926080" cy="2743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12E81"/>
                </a:solidFill>
              </a:rPr>
              <a:t>Employer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12E81"/>
                </a:solidFill>
              </a:rPr>
              <a:t>Portal Upload
HRMS API Push
SAP / Darwinbox / Keka
Batch ZIP + 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600200"/>
            <a:ext cx="5120640" cy="2743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</a:rPr>
              <a:t>PRANA VAULT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8483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Kafka  ·  Temporal  ·  YugabyteDB  ·  AWS KMS  ·  Redis CRDT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231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5B4FC"/>
                </a:solidFill>
              </a:rPr>
              <a:t>Ingest  →  OCR  →  LLM Extract  →  Resolve  →  Insights  → 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163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Validate → S3 put → 1 DB write → 1 Kafka publish → 202
All processing async. HTTP handler returns in milliseconds.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600200"/>
            <a:ext cx="3108960" cy="2743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Employee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1488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</a:rPr>
              <a:t>Mobile App
AI Insights
Watermarked Share
Alumni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3749039" cy="1371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645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Async 202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956048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HTTP handler returns in ms. All processing via Kafka + Temporal — async, durable, retryable.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4572000"/>
            <a:ext cx="3749039" cy="13716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645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Envelope Encryption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956048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Every doc encrypted with employee DEK, wrapped by tenant KEK via AWS KMS. Zero plaintext — ever.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572000"/>
            <a:ext cx="3749039" cy="13716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645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Dual-Region India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956048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YugabyteDB active-active: Mumbai + Hyderabad. Sub-10ms cross-region sync. 99.99% uptime SLA.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ALUMNI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Your career vault survives your resignation.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241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Always-on. Always yours. No HR intervention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68580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733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12E81"/>
                </a:solidFill>
              </a:rPr>
              <a:t>Post-Exit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Ex-employee logs in with phone OTP. Views salary slips, Form 16, offer letters, relieving letter — anytime, permanently.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97480"/>
            <a:ext cx="68580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7063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12E81"/>
                </a:solidFill>
              </a:rPr>
              <a:t>38-Second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8152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Average alumni document retrieval: 38 seconds. Zero calls to HR. Zero email chains. The 2 AM salary slip request — solved.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94760"/>
            <a:ext cx="68580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679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12E81"/>
                </a:solidFill>
              </a:rPr>
              <a:t>Portable Across Employers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7880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Career spanning Vertex → Indigo → Bluestar. One vault. All employers' docs co-exist, separated by tenant, unified for the employee.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92040"/>
            <a:ext cx="68580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651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12E81"/>
                </a:solidFill>
              </a:rPr>
              <a:t>Employer Control Preserved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7608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Alumni access is read-only and watermarked. Employer sets retention window. Documents are never editable by the employee.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1600200"/>
            <a:ext cx="4389120" cy="21945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17373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Alumni self-served this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9659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A5B4FC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6517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0 calls to HR  ·  0 emails 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175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Docs from 3 previous employers accessed by 1 employee in 90 seconds.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3977639"/>
            <a:ext cx="4389120" cy="13258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0965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5B4FC"/>
                </a:solidFill>
              </a:rPr>
              <a:t>90+  system-generated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4348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4B5FD"/>
                </a:solidFill>
              </a:rPr>
              <a:t>Email  ·  SMS  ·  WhatsApp  ·  Push  ·  Portal Bell  ·  Incident
Zero manual follow-ups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FOR THE CHRO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Complete workforce visibility. In 60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68580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CHRO Weekly Vault Snapshot  ·  Week 32 · Aug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214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Docs processed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+ 18 vs last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Vault completeness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+ 1.2% this week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5616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Exceptions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11D48"/>
                </a:solidFill>
              </a:rPr>
              <a:t>2 past SLA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9824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22976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76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Alumni self-served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2976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0 HR 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63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</a:rPr>
              <a:t>Documents by type this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37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Salary slips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3383279"/>
            <a:ext cx="41148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3383279"/>
            <a:ext cx="3044952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33375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158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813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Offer letters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3858768"/>
            <a:ext cx="41148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0" y="3858768"/>
            <a:ext cx="740664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38130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885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Form 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34255"/>
            <a:ext cx="41148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0" y="4334255"/>
            <a:ext cx="246888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8272" y="42885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800600"/>
            <a:ext cx="6858000" cy="4572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2400E"/>
                </a:solidFill>
              </a:rPr>
              <a:t>Warning:  4 exceptions unresolved — 2 past 4-hr SLA.  Oldest: 31 hrs ago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321808"/>
            <a:ext cx="685800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94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5F46"/>
                </a:solidFill>
              </a:rPr>
              <a:t>OK:  7 ex-employees downloaded own docs. Zero HR needed. Avg retrieval: 38 seconds.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1600200"/>
            <a:ext cx="448056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16916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Vault Health by Department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2039112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Engineering 86%  ·  Finance 91%  ·  HR 94%  ·  Sales 74%. Know gaps before audit.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3218688"/>
            <a:ext cx="448056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33101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Compliance Calendar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36576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Labour law obligations by deadline. PF return, ESI filing, gratuity nominations — RAG status.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4837176"/>
            <a:ext cx="448056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49286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Weekly / Monthly / Quarterly Digest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5276088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Automated digest to CHRO inbox. Every number backed by an immutable event log.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FOR THE CFO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Financial document risk — one number, always current.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68580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CFO Weekly Cost &amp; Compliance Pulse  ·  Week 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1,997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Headcount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11D48"/>
                </a:solidFill>
              </a:rPr>
              <a:t>Budget 2,050 · -53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Joiners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11 docs auto-pushed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5616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Exits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11D48"/>
                </a:solidFill>
              </a:rPr>
              <a:t>Rs.9L replacement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9824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22976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76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Anomalies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2976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Awaiting CFO 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63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</a:rPr>
              <a:t>Financial doc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37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Salary slips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3383279"/>
            <a:ext cx="41148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3383279"/>
            <a:ext cx="4032504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33375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813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Form 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3858768"/>
            <a:ext cx="41148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0" y="3858768"/>
            <a:ext cx="3950208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38130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96%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885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PF statements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34255"/>
            <a:ext cx="41148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0" y="4334255"/>
            <a:ext cx="3332988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8272" y="42885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81%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846320"/>
            <a:ext cx="6858000" cy="5486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91947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2400E"/>
                </a:solidFill>
              </a:rPr>
              <a:t>Warning:  2 payroll anomalies — 47 employees, Rs.2.3L delta. Awaiting CFO acknowledgement. SLA: 48 hrs.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1600200"/>
            <a:ext cx="4480560" cy="14630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16916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</a:rPr>
              <a:t>Anomaly Detection + Ack Workflow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2039112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Bulk salary revisions, PAN duplicates — flagged automatically. CFO one-click ack with full Temporal audit trail.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3218688"/>
            <a:ext cx="4480560" cy="14630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0" y="33101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</a:rPr>
              <a:t>Form 16 Delivery Tracking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36576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1,921 of 2,000 (96%). Remaining 79 are mid-year joiners — not yet due. CFO sees it in digest, not in an audit.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4837176"/>
            <a:ext cx="4480560" cy="14630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0" y="49286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</a:rPr>
              <a:t>Rs.33L Monthly Attrition Cost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276088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Surfaced automatically in CFO monthly digest. No analyst required. Backed by immutable workflow log.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FOR THE CISO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Every access. Every device. Every second. Logged.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68580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InfoSec Weekly Security Pulse  ·  Week 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1,847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Doc accesses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100% watermarked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11D48"/>
                </a:solidFill>
              </a:rPr>
              <a:t>2 open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5616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Force-logout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11D48"/>
                </a:solidFill>
              </a:rPr>
              <a:t>Bulk · Rajkot 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9824" y="2057400"/>
            <a:ext cx="1554480" cy="8686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22976" y="2103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76" y="23957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Share tokens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2976" y="26060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31 expired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63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</a:rPr>
              <a:t>Anomaly breakdown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37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Bulk access (HIGH)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3383279"/>
            <a:ext cx="36576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34640" y="3383279"/>
            <a:ext cx="1316736" cy="182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3375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11D48"/>
                </a:solidFill>
              </a:rPr>
              <a:t>36%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813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Foreign IP (MED)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858768"/>
            <a:ext cx="36576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34640" y="3858768"/>
            <a:ext cx="987552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81304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27%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88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Failed TOTP (LOW)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4334255"/>
            <a:ext cx="36576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334255"/>
            <a:ext cx="987552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28853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27%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828032"/>
            <a:ext cx="6858000" cy="5943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90118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F1239"/>
                </a:solidFill>
              </a:rPr>
              <a:t>HIGH:  Bulk access — 47 docs in 4 min, Rajkot IP 103.21.x.x. Force-logout applied. Watermark trail preserved.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1600200"/>
            <a:ext cx="4480560" cy="14630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16916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Foreign IP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2039112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OA-Operator logged in from Singapore. Flagged immediately. CISO sees full IP. Employee sees city only — by design.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3218688"/>
            <a:ext cx="4480560" cy="14630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0" y="33101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4.2-Minute Response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36576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Detection to force-logout. Avg across Q2: 4.2 minutes. Watermark trail preserved on every access.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4837176"/>
            <a:ext cx="4480560" cy="14630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0" y="49286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Account Lock Policy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276088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5 failed TOTP = auto-lock. CISO sees: "Locked — BULK_ACCESS_ANOMALY. Auto-unlocks in 18h 23m." Manual override needs audit reason.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FOR THE 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Your career. All of it. In your pocket. Forever.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2560320" cy="47548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5B4FC"/>
                </a:solidFill>
              </a:rPr>
              <a:t>PRANA VAULT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Arjun Kapoor  ·  3 employers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31720"/>
            <a:ext cx="2286000" cy="411480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4048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B5FD"/>
                </a:solidFill>
              </a:rPr>
              <a:t>Salary Slips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24048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34639"/>
            <a:ext cx="2286000" cy="411480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9077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B5FD"/>
                </a:solidFill>
              </a:rPr>
              <a:t>Form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290779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337560"/>
            <a:ext cx="2286000" cy="411480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410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B5FD"/>
                </a:solidFill>
              </a:rPr>
              <a:t>Offer Letters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3410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840480"/>
            <a:ext cx="2286000" cy="411480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9136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B5FD"/>
                </a:solidFill>
              </a:rPr>
              <a:t>Relieving Ltr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391363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07408"/>
            <a:ext cx="2286000" cy="685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4622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5B4FC"/>
                </a:solidFill>
              </a:rPr>
              <a:t>AI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"Consistent progression. Senior band for your experience."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1937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Salary not shown  ·  PAN never displayed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1600200"/>
            <a:ext cx="42062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1709928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Mobile-First Vault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2039112"/>
            <a:ext cx="40233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Face ID / fingerprint re-auth for every document access. Server-side watermark before bytes reach the device.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1600200"/>
            <a:ext cx="42062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1709928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One-Time Secure 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039112"/>
            <a:ext cx="40233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Share salary slip with bank. 6-digit OTP to recipient. 10-min session. Auto-expires. Watermarked with recipient name + timestamp.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3264408"/>
            <a:ext cx="42062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3374136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Privacy by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703320"/>
            <a:ext cx="40233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Raw salary — never shown. PAN — never displayed. AI insight only. Your financials stay yours.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3264408"/>
            <a:ext cx="42062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3374136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Alumni Access Forever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703320"/>
            <a:ext cx="40233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Left 5 years ago? Login with OTP. All your employers' docs — there. 38 seconds. No calls to HR.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5074920"/>
            <a:ext cx="882396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5184648"/>
            <a:ext cx="8641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DPDP Rights Built-In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513831"/>
            <a:ext cx="8641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Request erasure, export data, correct errors, withdraw consent — all from the mobile app. Within statutory SLA.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AI PIPELINE +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Local LLM. Full document in. Insights only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241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Data sovereignty guaranteed — no document ever leaves your infrastructure boundary.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783080" cy="18288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6642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0116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359152"/>
            <a:ext cx="16916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Validate · S3 · Kafka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3" y="23317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0551" y="1600200"/>
            <a:ext cx="1783080" cy="18288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03703" y="16642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3" y="20116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3703" y="2359152"/>
            <a:ext cx="16916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Tesseract
to Textract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775" y="23317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86783" y="1600200"/>
            <a:ext cx="1783080" cy="1828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9935" y="16642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5" y="20116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LLM 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5" y="2359152"/>
            <a:ext cx="16916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Qwen 2.5-14B
Full doc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7" y="23317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43016" y="1600200"/>
            <a:ext cx="1783080" cy="18288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16642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6168" y="20116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Resolve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6168" y="2359152"/>
            <a:ext cx="16916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Identity · PAN
dedup · EPFO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3317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9248" y="1600200"/>
            <a:ext cx="1783080" cy="18288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16642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0116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359152"/>
            <a:ext cx="16916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Llama 3.1-8B
Insights only 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23317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1600200"/>
            <a:ext cx="1783080" cy="18288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28632" y="16642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8632" y="201168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Route to Vault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8632" y="2359152"/>
            <a:ext cx="16916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SSE · Employee
access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657600"/>
            <a:ext cx="11612880" cy="132588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7307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</a:rPr>
              <a:t>PRIVACY FILTER — Non-Negotiable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041648"/>
            <a:ext cx="11247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F1239"/>
                </a:solidFill>
              </a:rPr>
              <a:t>Stage 05 output passes a mandatory privacy filter. Any raw salary figure, PAN, or NIK is BLOCKED.
Response: "I can share insights about your career but cannot share specific financial figures."
Hardcoded. Not configurable. Not bypassable.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38928"/>
            <a:ext cx="5669280" cy="1188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12E81"/>
                </a:solidFill>
              </a:rPr>
              <a:t>Locally Hosted 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53212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Qwen 2.5-14B + Llama 3.1-8B run on GPU workers inside your infrastructure. No document ever sent to OpenAI, Anthropic, or any external API. HuggingFace today — Ollama / vLLM on-premise when ready.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138928"/>
            <a:ext cx="5669280" cy="11887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Multilingual — Hindi + English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53212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BGE-M3 multilingual embeddings. Salary slips in Hindi, offer letters in English, PF statements in Marathi. India's workforce, in India's languages.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LABOUR LAW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29 Acts. 4 Codes. One vault that covers them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2834640" cy="16642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12E81"/>
                </a:solidFill>
              </a:rPr>
              <a:t>Code on Wages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29968"/>
            <a:ext cx="25603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Wage slips  ·  Wage register export
Bonus records  ·  3-year retention 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3" y="1600200"/>
            <a:ext cx="2834640" cy="16642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3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</a:rPr>
              <a:t>Industrial 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3" y="2029968"/>
            <a:ext cx="25603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Appointment letters  ·  Retrenchment notices
Grievance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1600200"/>
            <a:ext cx="2834640" cy="166420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Social Security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29968"/>
            <a:ext cx="25603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PF statements  ·  ESI cards
Gratuity Form F / I / L / M  ·  Maternity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600200"/>
            <a:ext cx="2834640" cy="166420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891B2"/>
                </a:solidFill>
              </a:rPr>
              <a:t>OSH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029968"/>
            <a:ext cx="25603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Contract labour records
Migrant worker passbook  ·  Health certificates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74720"/>
            <a:ext cx="3749039" cy="22402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Gratuity — Critical Gap Closed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3913632"/>
            <a:ext cx="34747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Form F (nomination)  ·  Form I (application)  ·  Form L / M (payment / rejection).
PRANA timestamps all four. Disputes now have an immutable paper trail.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474720"/>
            <a:ext cx="3749039" cy="22402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Form 16 — Repository, Not Issuer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913632"/>
            <a:ext cx="34747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PRANA stores employer-pushed Form 16 (Parts A + B). TRACES is authoritative. PRANA is the employee's permanent copy — accessible post-exit, shareable with bank or CA.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474720"/>
            <a:ext cx="3749039" cy="22402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Maternity Records — Sensitive 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913632"/>
            <a:ext cx="34747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Enhanced privacy flag. Dual-consent required for any share. Medical-adjacent data treated with strictest access controls under PRANA's privacy architecture.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925312"/>
            <a:ext cx="11612880" cy="3840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801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In addition to 4 Labour Codes:  IT Act 2000  ·  Income Tax Act (TDS / Form 16)  ·  DPDP Act 2023  —  all covered within the same PRANA vault.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DPDP ACT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Employee data rights — built-in, not bolted-on.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21945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Erasure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30 days SLA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304288"/>
            <a:ext cx="1005840" cy="25603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225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30d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184" y="1600200"/>
            <a:ext cx="21945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6624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72 hour SLA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9544" y="2304288"/>
            <a:ext cx="10058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23225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72h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1600200"/>
            <a:ext cx="21945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Correction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15 days SLA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50408" y="2304288"/>
            <a:ext cx="10058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23225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15d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600200"/>
            <a:ext cx="21945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Consent Withdrawal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Immediate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91271" y="2304288"/>
            <a:ext cx="1005840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23225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Instant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7776" y="1600200"/>
            <a:ext cx="21945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9216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Grievance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9216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48h ack · 30d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32136" y="2304288"/>
            <a:ext cx="1005840" cy="2560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32136" y="23225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48h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5760720" cy="26517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Consent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730752"/>
            <a:ext cx="530352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Consent is per-tenant, per-purpose — not a global toggle.
Every grant and withdrawal timestamped in consent_log.
Withdrawal is immediate — processing stops, Kafka notifies all services within milliseconds.
Audit logs survive erasure requests.
7-year legal retention overrides DPDP — told to employees transparently.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291840"/>
            <a:ext cx="5623560" cy="12070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100% DPDP Compliance — Q2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73075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All requests within SLA. 1 erasure completed Day 12 of 30. 1 export completed Day 3 of 3. Both audit-logged with full Temporal workflow trail.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645152"/>
            <a:ext cx="5623560" cy="12070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7365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Temporal Workflow — Not a Manual Process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084064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Every right triggers a named workflow: ErasureWorkflow, DataExportWorkflow, ConsentWithdrawalWorkflow. Durable, retryable, auditable. Never a manual ticket.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SECURITY +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Enterprise-grade encryption. India-scale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Three-Key Encryption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2286000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0116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</a:rPr>
              <a:t>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8648" y="1920240"/>
            <a:ext cx="2286000" cy="685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0116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</a:rPr>
              <a:t>Employee DEK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77255" y="1920240"/>
            <a:ext cx="2286000" cy="6858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5" y="20116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</a:rPr>
              <a:t>Tenant KEK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3" y="1920240"/>
            <a:ext cx="2286000" cy="6858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3" y="20116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</a:rPr>
              <a:t>AWS KMS
ap-south-1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7614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·  Passwords  —  Argon2id  ·  time=2  ·  memory=65,536  ·  parallelism=2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1089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·  PAN  —  FF3-1 Format-Preserving Encryption per employee DEK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4564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·  TOTP  —  AES-256-GCM  ·  Never stored in plaintext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80390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·  Cache  —  pan_token (HMAC-SHA256) only  ·  No plaintext PAN ever cached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Built for India's Workforce — All of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920240"/>
            <a:ext cx="2423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12E81"/>
                </a:solidFill>
              </a:rPr>
              <a:t>1L+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3957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organisations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1920240"/>
            <a:ext cx="2423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9407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12E81"/>
                </a:solidFill>
              </a:rPr>
              <a:t>1 Cr+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7" y="23957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employees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880360"/>
            <a:ext cx="2423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2926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12E81"/>
                </a:solidFill>
              </a:rPr>
              <a:t>125 PB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33558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document storage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2880360"/>
            <a:ext cx="2423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9407" y="2926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12E81"/>
                </a:solidFill>
              </a:rPr>
              <a:t>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7" y="33558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durable workflows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11480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187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YugabyteDB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4224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Dual-region Mumbai + Hyderabad  ·  256 tablets  ·  99.99% uptime SLA  ·  PostgreSQL-compatible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864608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Apache Kafka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97433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5 topics  ·  12 partitions  ·  AWS MSK KRaft mode  ·  MirrorMaker 2 bidirectional cross-region sync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614416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687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Redis CRDT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72414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ElastiCache Global Datastore  ·  Active-active  ·  Sub-10ms cross-region sync  ·  JWT revocation namespace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IMMUTABLE AUDIT +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We cannot see your salary. We cannot access your docs. By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The Audit Chain — Every Event, Forever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5943600" cy="9144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Document pushed by employer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tenant_id · document_id · actor · IP · timestamp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366F1"/>
                </a:solidFill>
              </a:rPr>
              <a:t>sha256:a3f8c2...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93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Jun 24, 09:14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5943600" cy="914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992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AI pipeline: Stage 03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101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Qwen 2.5-14B  ·  structured JSON  ·  no raw figures stored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66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366F1"/>
                </a:solidFill>
              </a:rPr>
              <a:t>sha256:b7d1e4...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9992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Jun 24, 09:14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5943600" cy="9144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05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Employee viewed 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159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Mobile  ·  Face ID auth  ·  watermark applied  ·  IP logged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72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366F1"/>
                </a:solidFill>
              </a:rPr>
              <a:t>sha256:c9f2a1...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005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Jun 24, 11:02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37760"/>
            <a:ext cx="5943600" cy="914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10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Share token issued to bank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218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Recipient OTP  ·  10-min session  ·  watermark: HDFC + timestamp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77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366F1"/>
                </a:solidFill>
              </a:rPr>
              <a:t>sha256:d4e8b3...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010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Jun 24, 14:37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600200"/>
            <a:ext cx="5394960" cy="33101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7-Year Retention. Non-Negotiable.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057400"/>
            <a:ext cx="2194560" cy="10058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21214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Hot
0-2 yrs
YugabyteDB
Queryable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423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-&gt;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2057400"/>
            <a:ext cx="219456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1214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Cold
2-7 yrs
Iceberg on S3
Tamper-evident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1546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Audit logs survive erasure requests. Legal retention overrides DPDP — told to employees transparently.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5074920"/>
            <a:ext cx="5394960" cy="7498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5138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11D48"/>
                </a:solidFill>
              </a:rPr>
              <a:t>Zero Access to Your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LLM output = insights only. Raw salary never in DB. PAN never in logs, cache, or API response. Not policy — it is the architecture.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5870448"/>
            <a:ext cx="5394960" cy="62179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59344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Watermark on Every Share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61813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Recipient name + timestamp + token. Applied server-side. Cannot be removed. Exfiltration trail always preserved.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201168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12188952" cy="10058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MARKET +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76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The gap is real. The moment is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Where PRANA fits vs. the alternatives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5669280" cy="12984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DigiLocker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Government Docs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78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No employer push  ·  No AI processing  ·  No career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37560"/>
            <a:ext cx="5669280" cy="1298448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HRMS (SAP / Darwinbox / Keka)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Employer System of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959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Document storage is a side feature  ·  No portability on exit  ·  No employee-owned vault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54880"/>
            <a:ext cx="5669280" cy="12984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PRANA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India's first employer-pushed  ·  AI-processed  ·  employee-owned career document vault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132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Employer pushes, employee owns  ·  AI insights, privacy-first  ·  Alumni access forever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6002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Three forces making this the right moment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20240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01168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DPDP Act 2023 Deadline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31720"/>
            <a:ext cx="5349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Every employer handling employee data must comply. Fines up to Rs.250 Cr. PRANA is the fastest path — not a project, a SaaS subscription.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154680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2461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15 Crore Workers With No Document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66160"/>
            <a:ext cx="5349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India's gig and contract workforce — fastest-growing, most document-vulnerable. PRANA is the only portable solution.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389120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48056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HRMS Fragmentation — Peak Pain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5349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Average enterprise runs 3-4 HR systems with zero interoperability. PRANA ingests from all — no rip-and-replace required.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5650992"/>
            <a:ext cx="5623560" cy="777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715000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Start with one department. Own your workforce's document story in 30 days.
No HRMS replacement. No IT project. One API call.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